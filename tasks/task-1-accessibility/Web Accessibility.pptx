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aret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Garet Bold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E0CDD">
                <a:alpha val="100000"/>
              </a:srgbClr>
            </a:gs>
            <a:gs pos="100000">
              <a:srgbClr val="2D53E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86109" y="3571248"/>
            <a:ext cx="6683677" cy="6379874"/>
          </a:xfrm>
          <a:custGeom>
            <a:avLst/>
            <a:gdLst/>
            <a:ahLst/>
            <a:cxnLst/>
            <a:rect r="r" b="b" t="t" l="l"/>
            <a:pathLst>
              <a:path h="6379874" w="6683677">
                <a:moveTo>
                  <a:pt x="0" y="0"/>
                </a:moveTo>
                <a:lnTo>
                  <a:pt x="6683678" y="0"/>
                </a:lnTo>
                <a:lnTo>
                  <a:pt x="6683678" y="6379874"/>
                </a:lnTo>
                <a:lnTo>
                  <a:pt x="0" y="63798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41221"/>
            <a:ext cx="16230600" cy="150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0"/>
              </a:lnSpc>
            </a:pPr>
            <a:r>
              <a:rPr lang="en-US" b="true" sz="10600" spc="530">
                <a:solidFill>
                  <a:srgbClr val="FFFFFF"/>
                </a:solidFill>
                <a:latin typeface="Garet Heavy"/>
                <a:ea typeface="Garet Heavy"/>
                <a:cs typeface="Garet Heavy"/>
                <a:sym typeface="Garet Heavy"/>
              </a:rPr>
              <a:t>WEB ACCESSIBILITY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60689" y="5448635"/>
            <a:ext cx="2332955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71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GHAZY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78067" y="5367049"/>
            <a:ext cx="2948659" cy="93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5"/>
              </a:lnSpc>
              <a:spcBef>
                <a:spcPct val="0"/>
              </a:spcBef>
            </a:pPr>
            <a:r>
              <a:rPr lang="en-US" sz="6605" spc="33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KARIM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94356" y="5559125"/>
            <a:ext cx="748903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600" spc="1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BY,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E0CDD">
                <a:alpha val="100000"/>
              </a:srgbClr>
            </a:gs>
            <a:gs pos="100000">
              <a:srgbClr val="2D53E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2517" y="5410200"/>
            <a:ext cx="4727696" cy="4408577"/>
          </a:xfrm>
          <a:custGeom>
            <a:avLst/>
            <a:gdLst/>
            <a:ahLst/>
            <a:cxnLst/>
            <a:rect r="r" b="b" t="t" l="l"/>
            <a:pathLst>
              <a:path h="4408577" w="4727696">
                <a:moveTo>
                  <a:pt x="0" y="0"/>
                </a:moveTo>
                <a:lnTo>
                  <a:pt x="4727696" y="0"/>
                </a:lnTo>
                <a:lnTo>
                  <a:pt x="4727696" y="4408577"/>
                </a:lnTo>
                <a:lnTo>
                  <a:pt x="0" y="4408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2517" y="4040505"/>
            <a:ext cx="17102966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600" spc="1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ACCESSIBILITY OR A11Y, IS ABOUT ENABLING AS MAN</a:t>
            </a:r>
            <a:r>
              <a:rPr lang="en-US" sz="3600" spc="1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Y PEOPLE AS POSSIBLE TO USE WEBSITES, EVEN THOSE WITH DISABILITIES.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70481" y="6658813"/>
            <a:ext cx="9633900" cy="194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0"/>
              </a:lnSpc>
              <a:spcBef>
                <a:spcPct val="0"/>
              </a:spcBef>
            </a:pPr>
            <a:r>
              <a:rPr lang="en-US" sz="3500" spc="17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“</a:t>
            </a:r>
            <a:r>
              <a:rPr lang="en-US" sz="3500" spc="175" strike="noStrike" u="none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THE POWER OF THE WEB IS IN ITS UNIVERSALITY. ACCESS BY EVERYONE REGARDLESS OF DISABILITY IS AN ESSENTIAL ASPECT.” - TIM BERNERS LEE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41221"/>
            <a:ext cx="16230600" cy="150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0"/>
              </a:lnSpc>
            </a:pPr>
            <a:r>
              <a:rPr lang="en-US" b="true" sz="10600" spc="530">
                <a:solidFill>
                  <a:srgbClr val="FFFFFF"/>
                </a:solidFill>
                <a:latin typeface="Garet Heavy"/>
                <a:ea typeface="Garet Heavy"/>
                <a:cs typeface="Garet Heavy"/>
                <a:sym typeface="Garet Heavy"/>
              </a:rPr>
              <a:t>WHAT IS IT?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E0CDD">
                <a:alpha val="100000"/>
              </a:srgbClr>
            </a:gs>
            <a:gs pos="100000">
              <a:srgbClr val="2D53E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45448" y="4577955"/>
            <a:ext cx="7197104" cy="4048371"/>
          </a:xfrm>
          <a:custGeom>
            <a:avLst/>
            <a:gdLst/>
            <a:ahLst/>
            <a:cxnLst/>
            <a:rect r="r" b="b" t="t" l="l"/>
            <a:pathLst>
              <a:path h="4048371" w="7197104">
                <a:moveTo>
                  <a:pt x="0" y="0"/>
                </a:moveTo>
                <a:lnTo>
                  <a:pt x="7197104" y="0"/>
                </a:lnTo>
                <a:lnTo>
                  <a:pt x="7197104" y="4048372"/>
                </a:lnTo>
                <a:lnTo>
                  <a:pt x="0" y="4048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0666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2517" y="3870767"/>
            <a:ext cx="17102966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600" spc="1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ACCESSIBILITY IS FOR EVERYONE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41221"/>
            <a:ext cx="16230600" cy="150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0"/>
              </a:lnSpc>
            </a:pPr>
            <a:r>
              <a:rPr lang="en-US" b="true" sz="10600" spc="530">
                <a:solidFill>
                  <a:srgbClr val="FFFFFF"/>
                </a:solidFill>
                <a:latin typeface="Garet Heavy"/>
                <a:ea typeface="Garet Heavy"/>
                <a:cs typeface="Garet Heavy"/>
                <a:sym typeface="Garet Heavy"/>
              </a:rPr>
              <a:t>LARGE AUDIENCE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08959" y="8845402"/>
            <a:ext cx="2256629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600" spc="1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SPECIAL NEEDS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79968" y="8845402"/>
            <a:ext cx="3470913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600" spc="1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MOBILE USERS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65587" y="8845402"/>
            <a:ext cx="3470913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600" spc="1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SLOW</a:t>
            </a:r>
          </a:p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sz="3600" spc="17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CONNECTION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E0CDD">
                <a:alpha val="100000"/>
              </a:srgbClr>
            </a:gs>
            <a:gs pos="100000">
              <a:srgbClr val="2D53E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18117" y="5403523"/>
            <a:ext cx="4651765" cy="3523712"/>
          </a:xfrm>
          <a:custGeom>
            <a:avLst/>
            <a:gdLst/>
            <a:ahLst/>
            <a:cxnLst/>
            <a:rect r="r" b="b" t="t" l="l"/>
            <a:pathLst>
              <a:path h="3523712" w="4651765">
                <a:moveTo>
                  <a:pt x="0" y="0"/>
                </a:moveTo>
                <a:lnTo>
                  <a:pt x="4651766" y="0"/>
                </a:lnTo>
                <a:lnTo>
                  <a:pt x="4651766" y="3523713"/>
                </a:lnTo>
                <a:lnTo>
                  <a:pt x="0" y="3523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41221"/>
            <a:ext cx="16230600" cy="150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0"/>
              </a:lnSpc>
            </a:pPr>
            <a:r>
              <a:rPr lang="en-US" b="true" sz="10600" spc="530">
                <a:solidFill>
                  <a:srgbClr val="FFFFFF"/>
                </a:solidFill>
                <a:latin typeface="Garet Heavy"/>
                <a:ea typeface="Garet Heavy"/>
                <a:cs typeface="Garet Heavy"/>
                <a:sym typeface="Garet Heavy"/>
              </a:rPr>
              <a:t>BENEFITS EVERYONE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53332" y="4253157"/>
            <a:ext cx="11581337" cy="49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0"/>
              </a:lnSpc>
              <a:spcBef>
                <a:spcPct val="0"/>
              </a:spcBef>
            </a:pPr>
            <a:r>
              <a:rPr lang="en-US" sz="3500" spc="17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NOT JUST THE USERS, BUT ALSO THE AUTHOR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87865" y="6536281"/>
            <a:ext cx="4020702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50"/>
              </a:lnSpc>
            </a:pPr>
            <a:r>
              <a:rPr lang="en-US" sz="3500" spc="17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BETTER</a:t>
            </a:r>
          </a:p>
          <a:p>
            <a:pPr algn="r">
              <a:lnSpc>
                <a:spcPts val="3850"/>
              </a:lnSpc>
              <a:spcBef>
                <a:spcPct val="0"/>
              </a:spcBef>
            </a:pPr>
            <a:r>
              <a:rPr lang="en-US" sz="3500" spc="17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A11Y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7033" y="6536281"/>
            <a:ext cx="4020702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0"/>
              </a:lnSpc>
            </a:pPr>
            <a:r>
              <a:rPr lang="en-US" sz="3500" spc="17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BETTER</a:t>
            </a:r>
          </a:p>
          <a:p>
            <a:pPr algn="just">
              <a:lnSpc>
                <a:spcPts val="3850"/>
              </a:lnSpc>
              <a:spcBef>
                <a:spcPct val="0"/>
              </a:spcBef>
            </a:pPr>
            <a:r>
              <a:rPr lang="en-US" sz="3500" spc="17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SEO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E0CDD">
                <a:alpha val="100000"/>
              </a:srgbClr>
            </a:gs>
            <a:gs pos="100000">
              <a:srgbClr val="2D53E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41221"/>
            <a:ext cx="16230600" cy="150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0"/>
              </a:lnSpc>
            </a:pPr>
            <a:r>
              <a:rPr lang="en-US" b="true" sz="10600" spc="530">
                <a:solidFill>
                  <a:srgbClr val="FFFFFF"/>
                </a:solidFill>
                <a:latin typeface="Garet Heavy"/>
                <a:ea typeface="Garet Heavy"/>
                <a:cs typeface="Garet Heavy"/>
                <a:sym typeface="Garet Heavy"/>
              </a:rPr>
              <a:t>TECHNIQUES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189488" y="2988363"/>
            <a:ext cx="7909025" cy="7909025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E0CDD">
                <a:alpha val="100000"/>
              </a:srgbClr>
            </a:gs>
            <a:gs pos="100000">
              <a:srgbClr val="2D53E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41221"/>
            <a:ext cx="16230600" cy="150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0"/>
              </a:lnSpc>
            </a:pPr>
            <a:r>
              <a:rPr lang="en-US" b="true" sz="10600" spc="530">
                <a:solidFill>
                  <a:srgbClr val="FFFFFF"/>
                </a:solidFill>
                <a:latin typeface="Garet Heavy"/>
                <a:ea typeface="Garet Heavy"/>
                <a:cs typeface="Garet Heavy"/>
                <a:sym typeface="Garet Heavy"/>
              </a:rPr>
              <a:t>HTML &amp; A11Y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6713" y="2013972"/>
            <a:ext cx="16914574" cy="9682576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E0CDD">
                <a:alpha val="100000"/>
              </a:srgbClr>
            </a:gs>
            <a:gs pos="100000">
              <a:srgbClr val="2D53E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6080" y="4552540"/>
            <a:ext cx="16855840" cy="2981116"/>
          </a:xfrm>
          <a:custGeom>
            <a:avLst/>
            <a:gdLst/>
            <a:ahLst/>
            <a:cxnLst/>
            <a:rect r="r" b="b" t="t" l="l"/>
            <a:pathLst>
              <a:path h="2981116" w="16855840">
                <a:moveTo>
                  <a:pt x="0" y="0"/>
                </a:moveTo>
                <a:lnTo>
                  <a:pt x="16855840" y="0"/>
                </a:lnTo>
                <a:lnTo>
                  <a:pt x="16855840" y="2981115"/>
                </a:lnTo>
                <a:lnTo>
                  <a:pt x="0" y="29811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41221"/>
            <a:ext cx="16230600" cy="150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0"/>
              </a:lnSpc>
            </a:pPr>
            <a:r>
              <a:rPr lang="en-US" b="true" sz="10600" spc="530">
                <a:solidFill>
                  <a:srgbClr val="FFFFFF"/>
                </a:solidFill>
                <a:latin typeface="Garet Heavy"/>
                <a:ea typeface="Garet Heavy"/>
                <a:cs typeface="Garet Heavy"/>
                <a:sym typeface="Garet Heavy"/>
              </a:rPr>
              <a:t>GOOD OR BAD?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DE0CDD">
                <a:alpha val="100000"/>
              </a:srgbClr>
            </a:gs>
            <a:gs pos="100000">
              <a:srgbClr val="2D53E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72442" y="4479925"/>
            <a:ext cx="14343115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b="true" sz="9999" spc="4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DAG6rQldQek</dc:identifier>
  <dcterms:modified xsi:type="dcterms:W3CDTF">2011-08-01T06:04:30Z</dcterms:modified>
  <cp:revision>1</cp:revision>
  <dc:title>DEPI React Frontend Task-1 Web Accessibility</dc:title>
</cp:coreProperties>
</file>